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024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0242E"/>
                </a:solidFill>
                <a:latin typeface="Arial"/>
              </a:rPr>
              <a:t>Distribution of Email Classes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Emails</c:v>
                </c:pt>
              </c:strCache>
            </c:strRef>
          </c:tx>
          <c:spPr>
            <a:solidFill>
              <a:srgbClr val="9A1B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1B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 (0)</c:v>
                  </c:pt>
                  <c:pt idx="1">
                    <c:v>Phishing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39233</c:v>
                </c:pt>
                <c:pt idx="1">
                  <c:v>42845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F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024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0242E"/>
                </a:solidFill>
                <a:latin typeface="Arial"/>
              </a:rPr>
              <a:t>Accuracy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Log. Reg.</c:v>
                  </c:pt>
                  <c:pt idx="1">
                    <c:v>Naive
Bayes</c:v>
                  </c:pt>
                  <c:pt idx="2">
                    <c:v>Random
Forest</c:v>
                  </c:pt>
                  <c:pt idx="3">
                    <c:v>Neural
Network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</c:v>
                </c:pt>
                <c:pt idx="1">
                  <c:v>0.9597</c:v>
                </c:pt>
                <c:pt idx="2">
                  <c:v>0.9779</c:v>
                </c:pt>
                <c:pt idx="3">
                  <c:v>0.9828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9525" cap="flat">
              <a:solidFill>
                <a:srgbClr val="EF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9A1B2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2926080" cy="292608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4572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pptx_project2/iic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777240" cy="7772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भारतीय संगणक एवं प्रौद्योगिकी संस्थान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45920" y="8595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COMPUTING AND TECHNOLOGY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Phishing Email Detection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Using Machine Learning &amp; Text Classification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658368" y="4617720"/>
            <a:ext cx="2926080" cy="0"/>
          </a:xfrm>
          <a:prstGeom prst="line">
            <a:avLst/>
          </a:prstGeom>
          <a:noFill/>
          <a:ln w="31750">
            <a:solidFill>
              <a:srgbClr val="9A1B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8920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
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University Jaipur
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ID: 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23FE10CAI00398   |  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567333
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kushjainv@gmail.com   |  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15th June - 30th July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858000" cy="4480560"/>
          </a:xfrm>
          <a:prstGeom prst="rect">
            <a:avLst/>
          </a:prstGeom>
          <a:solidFill>
            <a:srgbClr val="FAF5F4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63093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remain one of the most widespread cyber threats, tricking users into revealing passwords, financial data, and personal information. This project develops an AI-based phishing detection system using NLP and Machine Learning. Email text is preprocessed and converted into numeric features using TF-IDF, then used to train four classifiers - Logistic Regression, Multinomial Naive Bayes, Random Forest, and a Neural Network (MLP). Models were evaluated using Accuracy, Precision, Recall, F1-score, and Confusion Matrices. All four models performed strongly, with the Neural Network achieving the highest accuracy on the dataset.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0" y="17373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9A1B2F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84708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~82,000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95528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Analyzed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324612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9A1B2F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335584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9552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47548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9A1B2F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48646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98.3%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955280" y="5532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(Neural Net)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 &amp; The Goal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attackers impersonate trusted organizations or individuals to trick users into disclosing sensitive information. As email use grows, phishing has become more sophisticated - rule-based filters can no longer keep 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AF5F4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80360"/>
            <a:ext cx="594360" cy="59436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email analysis and learns phishing patterns instead of relying only on manual security rules.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60604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AF5F4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8803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09160" y="425196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relationships between textual features and email class from labeled data to classify new emails.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260604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AF5F4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2880360"/>
            <a:ext cx="594360" cy="594360"/>
          </a:xfrm>
          <a:prstGeom prst="ellipse">
            <a:avLst/>
          </a:prstGeom>
          <a:solidFill>
            <a:srgbClr val="20242E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953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595360" y="425196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tokenizes, and vectorizes raw email text into features usable by ML models via TF-IDF.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1B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AI-driven phishing email detection system using ML &amp; NLP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1B2F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16459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raw email text by removing noise and stopwords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1B2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email content into numerical features using TF-IDF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651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1B2F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6060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Logistic Regression, Naive Bayes, Random Forest, Neural Network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1B2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566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Accuracy, Precision, Recall, F1-score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611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9A1B2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566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best-performing model and save it for future use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phishing_email.csv - emails collected from public sources, labeled Legitimate (0) or Phishing (1).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508760"/>
            <a:ext cx="3977640" cy="4709160"/>
          </a:xfrm>
          <a:prstGeom prst="roundRect">
            <a:avLst>
              <a:gd name="adj" fmla="val 1839"/>
            </a:avLst>
          </a:prstGeom>
          <a:solidFill>
            <a:srgbClr val="9A1B2F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09560" y="2240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(cleaned)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29800" y="2240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~82,000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09560" y="2697480"/>
            <a:ext cx="3611880" cy="0"/>
          </a:xfrm>
          <a:prstGeom prst="line">
            <a:avLst/>
          </a:prstGeom>
          <a:noFill/>
          <a:ln w="9525">
            <a:solidFill>
              <a:srgbClr val="C247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29800" y="2743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text_combined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09560" y="3200400"/>
            <a:ext cx="3611880" cy="0"/>
          </a:xfrm>
          <a:prstGeom prst="line">
            <a:avLst/>
          </a:prstGeom>
          <a:noFill/>
          <a:ln w="9525">
            <a:solidFill>
              <a:srgbClr val="C247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956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829800" y="32461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(0 / 1)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09560" y="3703320"/>
            <a:ext cx="3611880" cy="0"/>
          </a:xfrm>
          <a:prstGeom prst="line">
            <a:avLst/>
          </a:prstGeom>
          <a:noFill/>
          <a:ln w="9525">
            <a:solidFill>
              <a:srgbClr val="C2475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09560" y="3749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829800" y="3749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909560" y="4206240"/>
            <a:ext cx="3611880" cy="0"/>
          </a:xfrm>
          <a:prstGeom prst="line">
            <a:avLst/>
          </a:prstGeom>
          <a:noFill/>
          <a:ln w="9525">
            <a:solidFill>
              <a:srgbClr val="C247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09560" y="4251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829800" y="4251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909560" y="4709160"/>
            <a:ext cx="3611880" cy="0"/>
          </a:xfrm>
          <a:prstGeom prst="line">
            <a:avLst/>
          </a:prstGeom>
          <a:noFill/>
          <a:ln w="9525">
            <a:solidFill>
              <a:srgbClr val="C2475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9560" y="4754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82980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(Stratified)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909560" y="5212080"/>
            <a:ext cx="3611880" cy="0"/>
          </a:xfrm>
          <a:prstGeom prst="line">
            <a:avLst/>
          </a:prstGeom>
          <a:noFill/>
          <a:ln w="9525">
            <a:solidFill>
              <a:srgbClr val="C2475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09560" y="5257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Representation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829800" y="52578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(5,000 max)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909560" y="5715000"/>
            <a:ext cx="3611880" cy="0"/>
          </a:xfrm>
          <a:prstGeom prst="line">
            <a:avLst/>
          </a:prstGeom>
          <a:noFill/>
          <a:ln w="9525">
            <a:solidFill>
              <a:srgbClr val="C2475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Machine Learning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2628" y="237744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9A1B2F"/>
          </a:solidFill>
          <a:ln/>
        </p:spPr>
      </p:sp>
      <p:sp>
        <p:nvSpPr>
          <p:cNvPr id="5" name="Text 3"/>
          <p:cNvSpPr/>
          <p:nvPr/>
        </p:nvSpPr>
        <p:spPr>
          <a:xfrm>
            <a:off x="498348" y="23774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51076" y="2377440"/>
            <a:ext cx="146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79092" y="237744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1924812" y="23774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77540" y="2377440"/>
            <a:ext cx="146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05556" y="237744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9A1B2F"/>
          </a:solidFill>
          <a:ln/>
        </p:spPr>
      </p:sp>
      <p:sp>
        <p:nvSpPr>
          <p:cNvPr id="11" name="Text 9"/>
          <p:cNvSpPr/>
          <p:nvPr/>
        </p:nvSpPr>
        <p:spPr>
          <a:xfrm>
            <a:off x="3351276" y="23774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04004" y="2377440"/>
            <a:ext cx="146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32020" y="237744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4777740" y="23774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0468" y="2377440"/>
            <a:ext cx="146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58484" y="237744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9A1B2F"/>
          </a:solidFill>
          <a:ln/>
        </p:spPr>
      </p:sp>
      <p:sp>
        <p:nvSpPr>
          <p:cNvPr id="17" name="Text 15"/>
          <p:cNvSpPr/>
          <p:nvPr/>
        </p:nvSpPr>
        <p:spPr>
          <a:xfrm>
            <a:off x="6204204" y="23774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(80:20)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56932" y="2377440"/>
            <a:ext cx="146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4948" y="237744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7630668" y="23774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83396" y="2377440"/>
            <a:ext cx="146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11412" y="237744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9A1B2F"/>
          </a:solidFill>
          <a:ln/>
        </p:spPr>
      </p:sp>
      <p:sp>
        <p:nvSpPr>
          <p:cNvPr id="23" name="Text 21"/>
          <p:cNvSpPr/>
          <p:nvPr/>
        </p:nvSpPr>
        <p:spPr>
          <a:xfrm>
            <a:off x="9057132" y="23774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309860" y="2377440"/>
            <a:ext cx="1463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437876" y="237744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20242E"/>
          </a:solidFill>
          <a:ln/>
        </p:spPr>
      </p:sp>
      <p:sp>
        <p:nvSpPr>
          <p:cNvPr id="26" name="Text 24"/>
          <p:cNvSpPr/>
          <p:nvPr/>
        </p:nvSpPr>
        <p:spPr>
          <a:xfrm>
            <a:off x="10483596" y="237744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 were trained and compared under identical conditions: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FAF5F4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0" y="44348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FAF5F4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44348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FAF5F4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326880" y="4434840"/>
            <a:ext cx="2697480" cy="777240"/>
          </a:xfrm>
          <a:prstGeom prst="roundRect">
            <a:avLst>
              <a:gd name="adj" fmla="val 7059"/>
            </a:avLst>
          </a:prstGeom>
          <a:solidFill>
            <a:srgbClr val="FAF5F4"/>
          </a:solidFill>
          <a:ln w="12700">
            <a:solidFill>
              <a:srgbClr val="EAD9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0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lowercase → remove HTML tags, URLs, numbers, punctuation &amp; stopwords → clean_text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Preprocessing &amp; Feature Extraction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Steps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to lowercase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HTML tags and URLs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numbers, punctuation &amp; special characters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English stopwords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extra white spaces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600200"/>
            <a:ext cx="0" cy="4480560"/>
          </a:xfrm>
          <a:prstGeom prst="line">
            <a:avLst/>
          </a:prstGeom>
          <a:noFill/>
          <a:ln w="12700">
            <a:solidFill>
              <a:srgbClr val="EAD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0116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that appear often in one email but rarely across others receive higher weight, helping models focus on discriminative phishing indicators.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301752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AF5F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3675888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AF5F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6758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0" y="36758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4334256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AF5F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433425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8320" y="433425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4992624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FAF5F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99262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0" y="499262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Feature Matrix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Machine Learning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2A2F3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2240280" cy="320040"/>
          </a:xfrm>
          <a:prstGeom prst="roundRect">
            <a:avLst>
              <a:gd name="adj" fmla="val 42857"/>
            </a:avLst>
          </a:prstGeom>
          <a:solidFill>
            <a:srgbClr val="9A1B2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Classifier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linear decision boundary over TF-IDF features. Fast, simple, strong baseline.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2A2F3B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2103120"/>
            <a:ext cx="2240280" cy="320040"/>
          </a:xfrm>
          <a:prstGeom prst="roundRect">
            <a:avLst>
              <a:gd name="adj" fmla="val 42857"/>
            </a:avLst>
          </a:prstGeom>
          <a:solidFill>
            <a:srgbClr val="9A1B2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03320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34290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Bayes'-theorem based; assumes feature independence. Low complexity, fast training.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2A2F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2103120"/>
            <a:ext cx="2240280" cy="320040"/>
          </a:xfrm>
          <a:prstGeom prst="roundRect">
            <a:avLst>
              <a:gd name="adj" fmla="val 42857"/>
            </a:avLst>
          </a:prstGeom>
          <a:solidFill>
            <a:srgbClr val="9A1B2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29400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29400" y="34290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 via majority voting to capture complex relationships.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82880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2A2F3B"/>
          </a:solidFill>
          <a:ln/>
        </p:spPr>
      </p:sp>
      <p:sp>
        <p:nvSpPr>
          <p:cNvPr id="20" name="Shape 18"/>
          <p:cNvSpPr/>
          <p:nvPr/>
        </p:nvSpPr>
        <p:spPr>
          <a:xfrm>
            <a:off x="9555480" y="2103120"/>
            <a:ext cx="2240280" cy="320040"/>
          </a:xfrm>
          <a:prstGeom prst="roundRect">
            <a:avLst>
              <a:gd name="adj" fmla="val 42857"/>
            </a:avLst>
          </a:prstGeom>
          <a:solidFill>
            <a:srgbClr val="9A1B2F"/>
          </a:solidFill>
          <a:ln/>
        </p:spPr>
      </p:sp>
      <p:sp>
        <p:nvSpPr>
          <p:cNvPr id="21" name="Text 19"/>
          <p:cNvSpPr/>
          <p:nvPr/>
        </p:nvSpPr>
        <p:spPr>
          <a:xfrm>
            <a:off x="9555480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555480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55480" y="34290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hidden &amp; output layers learn nonlinear patterns between features and classes.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Performance Comparison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9808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8016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B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3E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(highlighted) achieved the highest overall performance across all metrics.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75320" y="1691640"/>
          <a:ext cx="33832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Confusion Matrix - Neural Network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40280" y="1645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4028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20116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691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2331720"/>
            <a:ext cx="1417320" cy="1417320"/>
          </a:xfrm>
          <a:prstGeom prst="rect">
            <a:avLst/>
          </a:prstGeom>
          <a:solidFill>
            <a:srgbClr val="9A1B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3317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7694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0" y="2331720"/>
            <a:ext cx="1417320" cy="1417320"/>
          </a:xfrm>
          <a:prstGeom prst="rect">
            <a:avLst/>
          </a:prstGeom>
          <a:solidFill>
            <a:srgbClr val="FAF5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3317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1691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40280" y="3749040"/>
            <a:ext cx="1417320" cy="1417320"/>
          </a:xfrm>
          <a:prstGeom prst="rect">
            <a:avLst/>
          </a:prstGeom>
          <a:solidFill>
            <a:srgbClr val="FAF5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37490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129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657600" y="3749040"/>
            <a:ext cx="1417320" cy="1417320"/>
          </a:xfrm>
          <a:prstGeom prst="rect">
            <a:avLst/>
          </a:prstGeom>
          <a:solidFill>
            <a:srgbClr val="9A1B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7490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8440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2920" y="54406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282 emails misclassified out of 16,416 test emails - a 98.3% accuracy.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173736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20242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Predictions by Model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6656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0" y="2587752"/>
            <a:ext cx="1181537" cy="274320"/>
          </a:xfrm>
          <a:prstGeom prst="rect">
            <a:avLst/>
          </a:prstGeom>
          <a:solidFill>
            <a:srgbClr val="50414A"/>
          </a:solidFill>
          <a:ln/>
        </p:spPr>
      </p:sp>
      <p:sp>
        <p:nvSpPr>
          <p:cNvPr id="22" name="Text 20"/>
          <p:cNvSpPr/>
          <p:nvPr/>
        </p:nvSpPr>
        <p:spPr>
          <a:xfrm>
            <a:off x="9959777" y="25146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0" y="3364992"/>
            <a:ext cx="2377440" cy="274320"/>
          </a:xfrm>
          <a:prstGeom prst="rect">
            <a:avLst/>
          </a:prstGeom>
          <a:solidFill>
            <a:srgbClr val="50414A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0" y="32918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4069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0" y="4142232"/>
            <a:ext cx="1303642" cy="274320"/>
          </a:xfrm>
          <a:prstGeom prst="rect">
            <a:avLst/>
          </a:prstGeom>
          <a:solidFill>
            <a:srgbClr val="5041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081882" y="4069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4846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0" y="4919472"/>
            <a:ext cx="1012746" cy="274320"/>
          </a:xfrm>
          <a:prstGeom prst="rect">
            <a:avLst/>
          </a:prstGeom>
          <a:solidFill>
            <a:srgbClr val="E2707F"/>
          </a:solidFill>
          <a:ln/>
        </p:spPr>
      </p:sp>
      <p:sp>
        <p:nvSpPr>
          <p:cNvPr id="31" name="Text 29"/>
          <p:cNvSpPr/>
          <p:nvPr/>
        </p:nvSpPr>
        <p:spPr>
          <a:xfrm>
            <a:off x="9790986" y="48463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Model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9A1B2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Neural Network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(Multi-Layer Perceptron)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produced the highest Accuracy, Precision, Recall, and F1-score - effectively capturing complex, nonlinear textual patterns associated with phishing emails. Selected as the final model for deployment.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691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Considerations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2148840"/>
            <a:ext cx="56692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email body text - ignores sender reputation, URLs, domains &amp; attachments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may use obfuscation or AI-generated phishing content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required more compute/time than linear models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incorporate structural &amp; behavioral features, transformer models (BERT, RoBERTa)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ML pipeline - dataset loading, preprocessing, TF-IDF extraction, model training, evaluation, and saving - was implemented. All four classifiers performed strongly, with the Neural Network delivering the best results, proving NLP + ML is an efficient approach for phishing email detection.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0" cy="4572000"/>
          </a:xfrm>
          <a:prstGeom prst="line">
            <a:avLst/>
          </a:prstGeom>
          <a:noFill/>
          <a:ln w="12700">
            <a:solidFill>
              <a:srgbClr val="3C41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10312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sender, URL &amp; domain reputation metadata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attachment-based &amp; header analysis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transformer models: BERT, RoBERTa, DistilBERT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robustness to obfuscated / AI-generated phishing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real-time email screening service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IICT Summer Internship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9A1B2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371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pptx_project2/iic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140" y="1426464"/>
            <a:ext cx="804672" cy="804672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Phishing Email Detection Using Machine Learning &amp; Text Classification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Jain  |  Enrollment No: 567333  |  Manipal University Jaipur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kushjainv@gmail.com  |  IICT Summer Internship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2026-07-31T21:09:17Z</dcterms:created>
  <dcterms:modified xsi:type="dcterms:W3CDTF">2026-07-31T21:09:17Z</dcterms:modified>
</cp:coreProperties>
</file>